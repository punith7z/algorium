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2.jpeg"/><Relationship Id="rId9" Type="http://schemas.openxmlformats.org/officeDocument/2006/relationships/image" Target="../media/image8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3.png"/><Relationship Id="rId11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2.jpeg"/><Relationship Id="rId7" Type="http://schemas.openxmlformats.org/officeDocument/2006/relationships/image" Target="../media/image2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.jpeg"/><Relationship Id="rId9" Type="http://schemas.openxmlformats.org/officeDocument/2006/relationships/image" Target="../media/image2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.png"/><Relationship Id="rId1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.png"/><Relationship Id="rId8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3.png"/><Relationship Id="rId7" Type="http://schemas.openxmlformats.org/officeDocument/2006/relationships/image" Target="../media/image2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3.png"/><Relationship Id="rId8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3.png"/><Relationship Id="rId8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3.png"/><Relationship Id="rId7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1"/>
          <p:cNvSpPr txBox="1"/>
          <p:nvPr/>
        </p:nvSpPr>
        <p:spPr>
          <a:xfrm>
            <a:off x="511058" y="1810768"/>
            <a:ext cx="404668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Smart E-Learning Platform for Modern Learners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71500" y="2298836"/>
            <a:ext cx="201863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3" sz="9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LEARN. PRACTICE. ASSESS. GROW.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71500" y="3141798"/>
            <a:ext cx="7008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1" sz="7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PRESENTED BY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71500" y="3398973"/>
            <a:ext cx="1130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PUNITH M[1MJ25IS038]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2786063" y="3398973"/>
            <a:ext cx="1370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 Parinita  [1MJ25AI038]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71500" y="3641861"/>
            <a:ext cx="1390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Manoj kumar K [1MJ25AE038]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2786063" y="3641861"/>
            <a:ext cx="13002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Indupriya H S [IMJ25EC038]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571500" y="3884748"/>
            <a:ext cx="12718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Harsha M S [1MJ25CSO38]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2786063" y="3884748"/>
            <a:ext cx="18255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Sambit Kumar Maharana [1MJ25VL038]</a:t>
            </a:r>
          </a:p>
        </p:txBody>
      </p:sp>
      <p:pic>
        <p:nvPicPr>
          <p:cNvPr id="30" name="Image 1" descr="Image 1"/>
          <p:cNvPicPr>
            <a:picLocks noChangeAspect="1"/>
          </p:cNvPicPr>
          <p:nvPr/>
        </p:nvPicPr>
        <p:blipFill>
          <a:blip r:embed="rId3">
            <a:alphaModFix amt="20000"/>
            <a:extLst/>
          </a:blip>
          <a:stretch>
            <a:fillRect/>
          </a:stretch>
        </p:blipFill>
        <p:spPr>
          <a:xfrm>
            <a:off x="6322219" y="1928813"/>
            <a:ext cx="1285876" cy="1285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aibrain.png" descr="aibrai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65522" y="779643"/>
            <a:ext cx="5199269" cy="3584214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new.jpeg" descr="new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07399" y="994890"/>
            <a:ext cx="3425087" cy="740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logo.png" descr="logo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374470" y="112968"/>
            <a:ext cx="2395060" cy="11487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209" y="-15091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ext 0"/>
          <p:cNvSpPr txBox="1"/>
          <p:nvPr/>
        </p:nvSpPr>
        <p:spPr>
          <a:xfrm>
            <a:off x="571500" y="428624"/>
            <a:ext cx="184224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24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The Problem </a:t>
            </a:r>
          </a:p>
        </p:txBody>
      </p:sp>
      <p:sp>
        <p:nvSpPr>
          <p:cNvPr id="37" name="Shape 1"/>
          <p:cNvSpPr/>
          <p:nvPr/>
        </p:nvSpPr>
        <p:spPr>
          <a:xfrm>
            <a:off x="571500" y="1125837"/>
            <a:ext cx="3929063" cy="692945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2"/>
          <p:cNvSpPr/>
          <p:nvPr/>
        </p:nvSpPr>
        <p:spPr>
          <a:xfrm>
            <a:off x="571499" y="1125837"/>
            <a:ext cx="21433" cy="69294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650" y="1211562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3"/>
          <p:cNvSpPr txBox="1"/>
          <p:nvPr/>
        </p:nvSpPr>
        <p:spPr>
          <a:xfrm>
            <a:off x="857250" y="1182987"/>
            <a:ext cx="120704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Fragmented Resources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857249" y="1393728"/>
            <a:ext cx="249671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Scattered materials across multiple disconnected</a:t>
            </a:r>
          </a:p>
        </p:txBody>
      </p:sp>
      <p:sp>
        <p:nvSpPr>
          <p:cNvPr id="42" name="Text 5"/>
          <p:cNvSpPr txBox="1"/>
          <p:nvPr/>
        </p:nvSpPr>
        <p:spPr>
          <a:xfrm>
            <a:off x="857250" y="1586610"/>
            <a:ext cx="5144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platforms.</a:t>
            </a:r>
          </a:p>
        </p:txBody>
      </p:sp>
      <p:sp>
        <p:nvSpPr>
          <p:cNvPr id="43" name="Shape 6"/>
          <p:cNvSpPr/>
          <p:nvPr/>
        </p:nvSpPr>
        <p:spPr>
          <a:xfrm>
            <a:off x="571500" y="1890220"/>
            <a:ext cx="3929063" cy="692945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7"/>
          <p:cNvSpPr/>
          <p:nvPr/>
        </p:nvSpPr>
        <p:spPr>
          <a:xfrm>
            <a:off x="571499" y="1890220"/>
            <a:ext cx="21433" cy="69294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8650" y="1975945"/>
            <a:ext cx="125017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8"/>
          <p:cNvSpPr txBox="1"/>
          <p:nvPr/>
        </p:nvSpPr>
        <p:spPr>
          <a:xfrm>
            <a:off x="839391" y="1947370"/>
            <a:ext cx="8258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Lack of Practice</a:t>
            </a:r>
          </a:p>
        </p:txBody>
      </p:sp>
      <p:sp>
        <p:nvSpPr>
          <p:cNvPr id="47" name="Text 9"/>
          <p:cNvSpPr txBox="1"/>
          <p:nvPr/>
        </p:nvSpPr>
        <p:spPr>
          <a:xfrm>
            <a:off x="839390" y="2158109"/>
            <a:ext cx="245257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Theory-heavy learning without integrated coding</a:t>
            </a:r>
          </a:p>
        </p:txBody>
      </p:sp>
      <p:sp>
        <p:nvSpPr>
          <p:cNvPr id="48" name="Text 10"/>
          <p:cNvSpPr txBox="1"/>
          <p:nvPr/>
        </p:nvSpPr>
        <p:spPr>
          <a:xfrm>
            <a:off x="839391" y="2350990"/>
            <a:ext cx="7305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environments.</a:t>
            </a:r>
          </a:p>
        </p:txBody>
      </p:sp>
      <p:sp>
        <p:nvSpPr>
          <p:cNvPr id="49" name="Shape 11"/>
          <p:cNvSpPr/>
          <p:nvPr/>
        </p:nvSpPr>
        <p:spPr>
          <a:xfrm>
            <a:off x="571500" y="2654600"/>
            <a:ext cx="3929063" cy="500064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12"/>
          <p:cNvSpPr/>
          <p:nvPr/>
        </p:nvSpPr>
        <p:spPr>
          <a:xfrm>
            <a:off x="571499" y="2654600"/>
            <a:ext cx="21433" cy="500064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650" y="2740325"/>
            <a:ext cx="14287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13"/>
          <p:cNvSpPr txBox="1"/>
          <p:nvPr/>
        </p:nvSpPr>
        <p:spPr>
          <a:xfrm>
            <a:off x="857249" y="2711750"/>
            <a:ext cx="9910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Unstructured Paths</a:t>
            </a:r>
          </a:p>
        </p:txBody>
      </p:sp>
      <p:sp>
        <p:nvSpPr>
          <p:cNvPr id="53" name="Text 14"/>
          <p:cNvSpPr txBox="1"/>
          <p:nvPr/>
        </p:nvSpPr>
        <p:spPr>
          <a:xfrm>
            <a:off x="857249" y="2922490"/>
            <a:ext cx="278938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Confusion caused by a lack of clear, guided roadmaps.</a:t>
            </a:r>
          </a:p>
        </p:txBody>
      </p:sp>
      <p:sp>
        <p:nvSpPr>
          <p:cNvPr id="54" name="Shape 15"/>
          <p:cNvSpPr/>
          <p:nvPr/>
        </p:nvSpPr>
        <p:spPr>
          <a:xfrm>
            <a:off x="571500" y="3226100"/>
            <a:ext cx="3929063" cy="500064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6"/>
          <p:cNvSpPr/>
          <p:nvPr/>
        </p:nvSpPr>
        <p:spPr>
          <a:xfrm>
            <a:off x="571499" y="3226100"/>
            <a:ext cx="21433" cy="500064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6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8650" y="3311826"/>
            <a:ext cx="160734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17"/>
          <p:cNvSpPr txBox="1"/>
          <p:nvPr/>
        </p:nvSpPr>
        <p:spPr>
          <a:xfrm>
            <a:off x="875109" y="3283251"/>
            <a:ext cx="91465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Distraction-Heavy</a:t>
            </a:r>
          </a:p>
        </p:txBody>
      </p:sp>
      <p:sp>
        <p:nvSpPr>
          <p:cNvPr id="58" name="Text 18"/>
          <p:cNvSpPr txBox="1"/>
          <p:nvPr/>
        </p:nvSpPr>
        <p:spPr>
          <a:xfrm>
            <a:off x="875109" y="3493990"/>
            <a:ext cx="28779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Intrusive advertisements disrupting the focus of learners.</a:t>
            </a:r>
          </a:p>
        </p:txBody>
      </p:sp>
      <p:pic>
        <p:nvPicPr>
          <p:cNvPr id="59" name="logo.png" descr="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new.jpeg" descr="new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59613" y="4477940"/>
            <a:ext cx="2312793" cy="500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 copy.png" descr="image copy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035244" y="571500"/>
            <a:ext cx="6000752" cy="4000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0"/>
          <p:cNvSpPr txBox="1"/>
          <p:nvPr/>
        </p:nvSpPr>
        <p:spPr>
          <a:xfrm>
            <a:off x="571500" y="428624"/>
            <a:ext cx="462086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24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Objectives &amp; Solution By Algorium</a:t>
            </a:r>
          </a:p>
        </p:txBody>
      </p:sp>
      <p:sp>
        <p:nvSpPr>
          <p:cNvPr id="65" name="Shape 1"/>
          <p:cNvSpPr/>
          <p:nvPr/>
        </p:nvSpPr>
        <p:spPr>
          <a:xfrm>
            <a:off x="4350544" y="2483150"/>
            <a:ext cx="442914" cy="500064"/>
          </a:xfrm>
          <a:prstGeom prst="rect">
            <a:avLst/>
          </a:prstGeom>
          <a:solidFill>
            <a:srgbClr val="FFFFFF"/>
          </a:solidFill>
          <a:ln w="9144">
            <a:solidFill>
              <a:srgbClr val="D4AF37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29125" y="2615309"/>
            <a:ext cx="285750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 2"/>
          <p:cNvSpPr txBox="1"/>
          <p:nvPr/>
        </p:nvSpPr>
        <p:spPr>
          <a:xfrm>
            <a:off x="857250" y="1125837"/>
            <a:ext cx="72417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68" name="Text 3"/>
          <p:cNvSpPr txBox="1"/>
          <p:nvPr/>
        </p:nvSpPr>
        <p:spPr>
          <a:xfrm>
            <a:off x="1000124" y="1597326"/>
            <a:ext cx="10674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Centralized Learning</a:t>
            </a:r>
          </a:p>
        </p:txBody>
      </p:sp>
      <p:sp>
        <p:nvSpPr>
          <p:cNvPr id="69" name="Text 4"/>
          <p:cNvSpPr txBox="1"/>
          <p:nvPr/>
        </p:nvSpPr>
        <p:spPr>
          <a:xfrm>
            <a:off x="1000124" y="1897363"/>
            <a:ext cx="13975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Practical Skill Development</a:t>
            </a:r>
          </a:p>
        </p:txBody>
      </p:sp>
      <p:sp>
        <p:nvSpPr>
          <p:cNvPr id="70" name="Text 5"/>
          <p:cNvSpPr txBox="1"/>
          <p:nvPr/>
        </p:nvSpPr>
        <p:spPr>
          <a:xfrm>
            <a:off x="1000124" y="2197400"/>
            <a:ext cx="111194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Self-Paced Education</a:t>
            </a:r>
          </a:p>
        </p:txBody>
      </p:sp>
      <p:sp>
        <p:nvSpPr>
          <p:cNvPr id="71" name="Text 6"/>
          <p:cNvSpPr txBox="1"/>
          <p:nvPr/>
        </p:nvSpPr>
        <p:spPr>
          <a:xfrm>
            <a:off x="1000124" y="2497438"/>
            <a:ext cx="66071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Easy Access</a:t>
            </a:r>
          </a:p>
        </p:txBody>
      </p:sp>
      <p:sp>
        <p:nvSpPr>
          <p:cNvPr id="72" name="Text 7"/>
          <p:cNvSpPr txBox="1"/>
          <p:nvPr/>
        </p:nvSpPr>
        <p:spPr>
          <a:xfrm>
            <a:off x="1000125" y="2797475"/>
            <a:ext cx="12389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Continuous Assessment</a:t>
            </a:r>
          </a:p>
        </p:txBody>
      </p:sp>
      <p:sp>
        <p:nvSpPr>
          <p:cNvPr id="73" name="Text 8"/>
          <p:cNvSpPr txBox="1"/>
          <p:nvPr/>
        </p:nvSpPr>
        <p:spPr>
          <a:xfrm>
            <a:off x="1000124" y="3097513"/>
            <a:ext cx="9212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Better Experience</a:t>
            </a:r>
          </a:p>
        </p:txBody>
      </p:sp>
      <p:sp>
        <p:nvSpPr>
          <p:cNvPr id="74" name="Text 9"/>
          <p:cNvSpPr txBox="1"/>
          <p:nvPr/>
        </p:nvSpPr>
        <p:spPr>
          <a:xfrm>
            <a:off x="4857750" y="1125837"/>
            <a:ext cx="14186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444444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ALGORIUM Solution</a:t>
            </a:r>
          </a:p>
        </p:txBody>
      </p:sp>
      <p:pic>
        <p:nvPicPr>
          <p:cNvPr id="7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54253" y="1747345"/>
            <a:ext cx="100014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10"/>
          <p:cNvSpPr txBox="1"/>
          <p:nvPr/>
        </p:nvSpPr>
        <p:spPr>
          <a:xfrm>
            <a:off x="5640089" y="1711625"/>
            <a:ext cx="249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AIML</a:t>
            </a:r>
          </a:p>
        </p:txBody>
      </p:sp>
      <p:pic>
        <p:nvPicPr>
          <p:cNvPr id="77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0532" y="1747345"/>
            <a:ext cx="125017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11"/>
          <p:cNvSpPr txBox="1"/>
          <p:nvPr/>
        </p:nvSpPr>
        <p:spPr>
          <a:xfrm>
            <a:off x="7349083" y="1711625"/>
            <a:ext cx="4287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Web Dev</a:t>
            </a:r>
          </a:p>
        </p:txBody>
      </p:sp>
      <p:pic>
        <p:nvPicPr>
          <p:cNvPr id="79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239941" y="2290270"/>
            <a:ext cx="87512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12"/>
          <p:cNvSpPr txBox="1"/>
          <p:nvPr/>
        </p:nvSpPr>
        <p:spPr>
          <a:xfrm>
            <a:off x="5450259" y="2254550"/>
            <a:ext cx="6169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Data Science</a:t>
            </a:r>
          </a:p>
        </p:txBody>
      </p:sp>
      <p:pic>
        <p:nvPicPr>
          <p:cNvPr id="81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158929" y="2290270"/>
            <a:ext cx="100014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13"/>
          <p:cNvSpPr txBox="1"/>
          <p:nvPr/>
        </p:nvSpPr>
        <p:spPr>
          <a:xfrm>
            <a:off x="7361088" y="2254550"/>
            <a:ext cx="3797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Quizzes</a:t>
            </a:r>
          </a:p>
        </p:txBody>
      </p:sp>
      <p:pic>
        <p:nvPicPr>
          <p:cNvPr id="83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439073" y="2833195"/>
            <a:ext cx="87512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ext 14"/>
          <p:cNvSpPr txBox="1"/>
          <p:nvPr/>
        </p:nvSpPr>
        <p:spPr>
          <a:xfrm>
            <a:off x="5619700" y="2797475"/>
            <a:ext cx="2781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Notes</a:t>
            </a:r>
          </a:p>
        </p:txBody>
      </p:sp>
      <p:pic>
        <p:nvPicPr>
          <p:cNvPr id="85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124997" y="2833195"/>
            <a:ext cx="112515" cy="10001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15"/>
          <p:cNvSpPr txBox="1"/>
          <p:nvPr/>
        </p:nvSpPr>
        <p:spPr>
          <a:xfrm>
            <a:off x="7347595" y="2797475"/>
            <a:ext cx="419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Compiler</a:t>
            </a:r>
          </a:p>
        </p:txBody>
      </p:sp>
      <p:pic>
        <p:nvPicPr>
          <p:cNvPr id="87" name="logo.png" descr="logo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new.jpeg" descr="new.jpe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0"/>
          <p:cNvSpPr txBox="1"/>
          <p:nvPr/>
        </p:nvSpPr>
        <p:spPr>
          <a:xfrm>
            <a:off x="571500" y="428624"/>
            <a:ext cx="28755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24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Central Hub Diagram</a:t>
            </a:r>
          </a:p>
        </p:txBody>
      </p:sp>
      <p:sp>
        <p:nvSpPr>
          <p:cNvPr id="92" name="Text 1"/>
          <p:cNvSpPr txBox="1"/>
          <p:nvPr/>
        </p:nvSpPr>
        <p:spPr>
          <a:xfrm>
            <a:off x="571500" y="1378744"/>
            <a:ext cx="3657600" cy="37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ALGORIUM acts as the </a:t>
            </a:r>
            <a:r>
              <a:rPr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central brain</a:t>
            </a:r>
            <a:r>
              <a:t> of the learning ecosystem, seamlessly connecting all essential services.</a:t>
            </a:r>
          </a:p>
        </p:txBody>
      </p:sp>
      <p:sp>
        <p:nvSpPr>
          <p:cNvPr id="93" name="Shape 2"/>
          <p:cNvSpPr/>
          <p:nvPr/>
        </p:nvSpPr>
        <p:spPr>
          <a:xfrm>
            <a:off x="571500" y="2361707"/>
            <a:ext cx="3657600" cy="742951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3"/>
          <p:cNvSpPr/>
          <p:nvPr/>
        </p:nvSpPr>
        <p:spPr>
          <a:xfrm>
            <a:off x="571500" y="2361707"/>
            <a:ext cx="28575" cy="74295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4375" y="2545658"/>
            <a:ext cx="17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4"/>
          <p:cNvSpPr txBox="1"/>
          <p:nvPr/>
        </p:nvSpPr>
        <p:spPr>
          <a:xfrm>
            <a:off x="950119" y="2531371"/>
            <a:ext cx="2377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Eliminates platform hopping by integrating</a:t>
            </a:r>
          </a:p>
        </p:txBody>
      </p:sp>
      <p:sp>
        <p:nvSpPr>
          <p:cNvPr id="97" name="Text 5"/>
          <p:cNvSpPr txBox="1"/>
          <p:nvPr/>
        </p:nvSpPr>
        <p:spPr>
          <a:xfrm>
            <a:off x="714374" y="2759971"/>
            <a:ext cx="27331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AIML, Web Dev, and Data Science into one hub.</a:t>
            </a:r>
          </a:p>
        </p:txBody>
      </p:sp>
      <p:sp>
        <p:nvSpPr>
          <p:cNvPr id="98" name="Text 6"/>
          <p:cNvSpPr txBox="1"/>
          <p:nvPr/>
        </p:nvSpPr>
        <p:spPr>
          <a:xfrm>
            <a:off x="571500" y="3333256"/>
            <a:ext cx="3657600" cy="37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Our </a:t>
            </a:r>
            <a:r>
              <a:rPr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hub-and-spoke wireframe</a:t>
            </a:r>
            <a:r>
              <a:t> ensures that every tool—from compilers to quizzes—is just one click away.</a:t>
            </a:r>
          </a:p>
        </p:txBody>
      </p:sp>
      <p:sp>
        <p:nvSpPr>
          <p:cNvPr id="99" name="Shape 7"/>
          <p:cNvSpPr/>
          <p:nvPr/>
        </p:nvSpPr>
        <p:spPr>
          <a:xfrm>
            <a:off x="4607719" y="1125837"/>
            <a:ext cx="3929064" cy="3214690"/>
          </a:xfrm>
          <a:prstGeom prst="rect">
            <a:avLst/>
          </a:prstGeom>
          <a:solidFill>
            <a:srgbClr val="FCFCFC"/>
          </a:solidFill>
          <a:ln w="9144">
            <a:solidFill>
              <a:srgbClr val="F0F0F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07719" y="1125837"/>
            <a:ext cx="3929064" cy="3214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logo.png" descr="logo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new.jpeg" descr="new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3328739" y="428625"/>
            <a:ext cx="2486522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24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Learning Features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2452030" y="1085850"/>
            <a:ext cx="423994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12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Comprehensive course modules designed for depth and clarity</a:t>
            </a:r>
          </a:p>
        </p:txBody>
      </p:sp>
      <p:pic>
        <p:nvPicPr>
          <p:cNvPr id="106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6250" y="1882014"/>
            <a:ext cx="228600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3"/>
          <p:cNvSpPr txBox="1"/>
          <p:nvPr/>
        </p:nvSpPr>
        <p:spPr>
          <a:xfrm>
            <a:off x="4693444" y="1798075"/>
            <a:ext cx="131659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Rich Media Content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4693444" y="2119182"/>
            <a:ext cx="343655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High-quality video lectures and layered educational materials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4693444" y="2347782"/>
            <a:ext cx="129721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for immersive learning.</a:t>
            </a:r>
          </a:p>
        </p:txBody>
      </p:sp>
      <p:pic>
        <p:nvPicPr>
          <p:cNvPr id="110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86250" y="2912138"/>
            <a:ext cx="228600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6"/>
          <p:cNvSpPr txBox="1"/>
          <p:nvPr/>
        </p:nvSpPr>
        <p:spPr>
          <a:xfrm>
            <a:off x="4693444" y="2828199"/>
            <a:ext cx="127825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Interactive Quizzes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4693444" y="3149305"/>
            <a:ext cx="29706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Real-time assessment to validate understanding and</a:t>
            </a:r>
          </a:p>
        </p:txBody>
      </p:sp>
      <p:sp>
        <p:nvSpPr>
          <p:cNvPr id="113" name="Text 8"/>
          <p:cNvSpPr txBox="1"/>
          <p:nvPr/>
        </p:nvSpPr>
        <p:spPr>
          <a:xfrm>
            <a:off x="4693444" y="3377905"/>
            <a:ext cx="208817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reinforce concepts after each lesson.</a:t>
            </a:r>
          </a:p>
        </p:txBody>
      </p:sp>
      <p:pic>
        <p:nvPicPr>
          <p:cNvPr id="114" name="Image 4" descr="Imag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09300" y="3942262"/>
            <a:ext cx="17145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9"/>
          <p:cNvSpPr txBox="1"/>
          <p:nvPr/>
        </p:nvSpPr>
        <p:spPr>
          <a:xfrm>
            <a:off x="4682393" y="3858323"/>
            <a:ext cx="151856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b="1"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Structured Documents</a:t>
            </a:r>
          </a:p>
        </p:txBody>
      </p:sp>
      <p:sp>
        <p:nvSpPr>
          <p:cNvPr id="116" name="Text 10"/>
          <p:cNvSpPr txBox="1"/>
          <p:nvPr/>
        </p:nvSpPr>
        <p:spPr>
          <a:xfrm>
            <a:off x="4682392" y="4179429"/>
            <a:ext cx="346749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Detailed notes and documentation for offline study, reference,</a:t>
            </a:r>
          </a:p>
        </p:txBody>
      </p:sp>
      <p:sp>
        <p:nvSpPr>
          <p:cNvPr id="117" name="Text 11"/>
          <p:cNvSpPr txBox="1"/>
          <p:nvPr/>
        </p:nvSpPr>
        <p:spPr>
          <a:xfrm>
            <a:off x="4682392" y="4408029"/>
            <a:ext cx="106454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666666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and quick revision.</a:t>
            </a:r>
          </a:p>
        </p:txBody>
      </p:sp>
      <p:pic>
        <p:nvPicPr>
          <p:cNvPr id="118" name="logo.png" descr="logo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new.jpeg" descr="new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fundlogo.png" descr="fund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6032" y="1552575"/>
            <a:ext cx="3838320" cy="26245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759842" y="1959727"/>
            <a:ext cx="8653356" cy="4867513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0"/>
          <p:cNvSpPr txBox="1"/>
          <p:nvPr/>
        </p:nvSpPr>
        <p:spPr>
          <a:xfrm>
            <a:off x="571500" y="428625"/>
            <a:ext cx="4349999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Practical Learning &amp; Experience</a:t>
            </a:r>
          </a:p>
        </p:txBody>
      </p:sp>
      <p:sp>
        <p:nvSpPr>
          <p:cNvPr id="124" name="Text 1"/>
          <p:cNvSpPr txBox="1"/>
          <p:nvPr/>
        </p:nvSpPr>
        <p:spPr>
          <a:xfrm>
            <a:off x="571500" y="1085850"/>
            <a:ext cx="480794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Hands-on tools that bridge the gap between theory and implementation</a:t>
            </a:r>
          </a:p>
        </p:txBody>
      </p:sp>
      <p:sp>
        <p:nvSpPr>
          <p:cNvPr id="125" name="Shape 2"/>
          <p:cNvSpPr/>
          <p:nvPr/>
        </p:nvSpPr>
        <p:spPr>
          <a:xfrm>
            <a:off x="571499" y="2583190"/>
            <a:ext cx="371478" cy="371477"/>
          </a:xfrm>
          <a:prstGeom prst="ellipse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0797" y="2683204"/>
            <a:ext cx="192882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3"/>
          <p:cNvSpPr txBox="1"/>
          <p:nvPr/>
        </p:nvSpPr>
        <p:spPr>
          <a:xfrm>
            <a:off x="1028699" y="2358888"/>
            <a:ext cx="1764508" cy="6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t>Online Compiler</a:t>
            </a:r>
            <a:endParaRPr sz="1000">
              <a:solidFill>
                <a:srgbClr val="8E7D69"/>
              </a:solidFill>
            </a:endParaRPr>
          </a:p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rPr sz="1000">
                <a:solidFill>
                  <a:srgbClr val="8E7D69"/>
                </a:solidFill>
              </a:rPr>
              <a:t>Practice coding directly in the browser with multi-language support</a:t>
            </a:r>
          </a:p>
        </p:txBody>
      </p:sp>
      <p:sp>
        <p:nvSpPr>
          <p:cNvPr id="128" name="Shape 4"/>
          <p:cNvSpPr/>
          <p:nvPr/>
        </p:nvSpPr>
        <p:spPr>
          <a:xfrm>
            <a:off x="2993231" y="2583190"/>
            <a:ext cx="371477" cy="371477"/>
          </a:xfrm>
          <a:prstGeom prst="ellipse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93243" y="2683204"/>
            <a:ext cx="171451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5"/>
          <p:cNvSpPr txBox="1"/>
          <p:nvPr/>
        </p:nvSpPr>
        <p:spPr>
          <a:xfrm>
            <a:off x="3450430" y="2248885"/>
            <a:ext cx="1764507" cy="6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t>Beginner-Friendly Paths</a:t>
            </a:r>
            <a:endParaRPr sz="1000">
              <a:solidFill>
                <a:srgbClr val="8E7D69"/>
              </a:solidFill>
            </a:endParaRPr>
          </a:p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rPr sz="1000">
                <a:solidFill>
                  <a:srgbClr val="8E7D69"/>
                </a:solidFill>
              </a:rPr>
              <a:t>Curated learning tracks that guide users from basics to mastery</a:t>
            </a:r>
          </a:p>
        </p:txBody>
      </p:sp>
      <p:sp>
        <p:nvSpPr>
          <p:cNvPr id="131" name="Shape 6"/>
          <p:cNvSpPr/>
          <p:nvPr/>
        </p:nvSpPr>
        <p:spPr>
          <a:xfrm>
            <a:off x="571499" y="3641861"/>
            <a:ext cx="371478" cy="371477"/>
          </a:xfrm>
          <a:prstGeom prst="ellipse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0797" y="3741873"/>
            <a:ext cx="192882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xt 7"/>
          <p:cNvSpPr txBox="1"/>
          <p:nvPr/>
        </p:nvSpPr>
        <p:spPr>
          <a:xfrm>
            <a:off x="1028699" y="3417558"/>
            <a:ext cx="1764508" cy="6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t>Ad-Free Experience</a:t>
            </a:r>
            <a:endParaRPr sz="1000">
              <a:solidFill>
                <a:srgbClr val="8E7D69"/>
              </a:solidFill>
            </a:endParaRPr>
          </a:p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rPr sz="1000">
                <a:solidFill>
                  <a:srgbClr val="8E7D69"/>
                </a:solidFill>
              </a:rPr>
              <a:t>Zero distractions to ensure maximum focus and deep learning</a:t>
            </a:r>
          </a:p>
        </p:txBody>
      </p:sp>
      <p:sp>
        <p:nvSpPr>
          <p:cNvPr id="134" name="Shape 8"/>
          <p:cNvSpPr/>
          <p:nvPr/>
        </p:nvSpPr>
        <p:spPr>
          <a:xfrm>
            <a:off x="2993231" y="3641861"/>
            <a:ext cx="371477" cy="371477"/>
          </a:xfrm>
          <a:prstGeom prst="ellipse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071813" y="3741873"/>
            <a:ext cx="214314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 9"/>
          <p:cNvSpPr txBox="1"/>
          <p:nvPr/>
        </p:nvSpPr>
        <p:spPr>
          <a:xfrm>
            <a:off x="3450430" y="3417558"/>
            <a:ext cx="1764507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t>User-Friendly Interface</a:t>
            </a:r>
            <a:endParaRPr sz="1000">
              <a:solidFill>
                <a:srgbClr val="8E7D69"/>
              </a:solidFill>
            </a:endParaRPr>
          </a:p>
          <a:p>
            <a:pPr>
              <a:lnSpc>
                <a:spcPct val="112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pPr>
            <a:r>
              <a:rPr sz="1000">
                <a:solidFill>
                  <a:srgbClr val="8E7D69"/>
                </a:solidFill>
              </a:rPr>
              <a:t>Modern, intuitive design optimized for cognitive ease</a:t>
            </a:r>
          </a:p>
        </p:txBody>
      </p:sp>
      <p:pic>
        <p:nvPicPr>
          <p:cNvPr id="137" name="logo.png" descr="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new.jpeg" descr="new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dev.png" descr="dev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099148" y="1246462"/>
            <a:ext cx="2650575" cy="2650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 0"/>
          <p:cNvSpPr txBox="1"/>
          <p:nvPr/>
        </p:nvSpPr>
        <p:spPr>
          <a:xfrm>
            <a:off x="571500" y="865817"/>
            <a:ext cx="27231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43" name="Text 1"/>
          <p:cNvSpPr txBox="1"/>
          <p:nvPr/>
        </p:nvSpPr>
        <p:spPr>
          <a:xfrm>
            <a:off x="571500" y="1594479"/>
            <a:ext cx="4171950" cy="587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1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ALGORIUM is built on a robust, scalable architecture designed to handle high-performance educational modules and seamless data flow.</a:t>
            </a:r>
          </a:p>
        </p:txBody>
      </p:sp>
      <p:sp>
        <p:nvSpPr>
          <p:cNvPr id="144" name="Shape 2"/>
          <p:cNvSpPr/>
          <p:nvPr/>
        </p:nvSpPr>
        <p:spPr>
          <a:xfrm>
            <a:off x="571500" y="2677454"/>
            <a:ext cx="342900" cy="342901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583" y="2777468"/>
            <a:ext cx="16073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 3"/>
          <p:cNvSpPr txBox="1"/>
          <p:nvPr/>
        </p:nvSpPr>
        <p:spPr>
          <a:xfrm>
            <a:off x="1021555" y="2634593"/>
            <a:ext cx="116326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User Interface Layer</a:t>
            </a:r>
          </a:p>
        </p:txBody>
      </p:sp>
      <p:sp>
        <p:nvSpPr>
          <p:cNvPr id="147" name="Text 4"/>
          <p:cNvSpPr txBox="1"/>
          <p:nvPr/>
        </p:nvSpPr>
        <p:spPr>
          <a:xfrm>
            <a:off x="1021555" y="2875694"/>
            <a:ext cx="3316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Responsive frontend designed for cross-device interaction.</a:t>
            </a:r>
          </a:p>
        </p:txBody>
      </p:sp>
      <p:sp>
        <p:nvSpPr>
          <p:cNvPr id="148" name="Shape 5"/>
          <p:cNvSpPr/>
          <p:nvPr/>
        </p:nvSpPr>
        <p:spPr>
          <a:xfrm>
            <a:off x="571500" y="3284673"/>
            <a:ext cx="342900" cy="342901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1512" y="3384686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 6"/>
          <p:cNvSpPr txBox="1"/>
          <p:nvPr/>
        </p:nvSpPr>
        <p:spPr>
          <a:xfrm>
            <a:off x="1021556" y="3241811"/>
            <a:ext cx="113498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Core Platform Logic</a:t>
            </a:r>
          </a:p>
        </p:txBody>
      </p:sp>
      <p:sp>
        <p:nvSpPr>
          <p:cNvPr id="151" name="Text 7"/>
          <p:cNvSpPr txBox="1"/>
          <p:nvPr/>
        </p:nvSpPr>
        <p:spPr>
          <a:xfrm>
            <a:off x="1021556" y="3482912"/>
            <a:ext cx="32670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Centralized management of sessions and module access.</a:t>
            </a:r>
          </a:p>
        </p:txBody>
      </p:sp>
      <p:sp>
        <p:nvSpPr>
          <p:cNvPr id="152" name="Shape 8"/>
          <p:cNvSpPr/>
          <p:nvPr/>
        </p:nvSpPr>
        <p:spPr>
          <a:xfrm>
            <a:off x="571500" y="3891893"/>
            <a:ext cx="342900" cy="342901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0441" y="3991905"/>
            <a:ext cx="125017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9"/>
          <p:cNvSpPr txBox="1"/>
          <p:nvPr/>
        </p:nvSpPr>
        <p:spPr>
          <a:xfrm>
            <a:off x="1021555" y="3849030"/>
            <a:ext cx="10575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Data Management</a:t>
            </a:r>
          </a:p>
        </p:txBody>
      </p:sp>
      <p:sp>
        <p:nvSpPr>
          <p:cNvPr id="155" name="Text 10"/>
          <p:cNvSpPr txBox="1"/>
          <p:nvPr/>
        </p:nvSpPr>
        <p:spPr>
          <a:xfrm>
            <a:off x="1021555" y="4090132"/>
            <a:ext cx="31614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Secure storage using a centralized MongoDB database.</a:t>
            </a:r>
          </a:p>
        </p:txBody>
      </p:sp>
      <p:sp>
        <p:nvSpPr>
          <p:cNvPr id="156" name="Shape 11"/>
          <p:cNvSpPr/>
          <p:nvPr/>
        </p:nvSpPr>
        <p:spPr>
          <a:xfrm>
            <a:off x="5193505" y="607219"/>
            <a:ext cx="3214689" cy="3929063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12"/>
          <p:cNvSpPr/>
          <p:nvPr/>
        </p:nvSpPr>
        <p:spPr>
          <a:xfrm>
            <a:off x="5800725" y="964405"/>
            <a:ext cx="2000250" cy="407195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5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325205" y="1098072"/>
            <a:ext cx="100014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13"/>
          <p:cNvSpPr txBox="1"/>
          <p:nvPr/>
        </p:nvSpPr>
        <p:spPr>
          <a:xfrm>
            <a:off x="6554043" y="1094501"/>
            <a:ext cx="6507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User Interface</a:t>
            </a:r>
          </a:p>
        </p:txBody>
      </p:sp>
      <p:pic>
        <p:nvPicPr>
          <p:cNvPr id="160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47271" y="1533310"/>
            <a:ext cx="107157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hape 14"/>
          <p:cNvSpPr/>
          <p:nvPr/>
        </p:nvSpPr>
        <p:spPr>
          <a:xfrm>
            <a:off x="5800725" y="1900683"/>
            <a:ext cx="2000250" cy="407195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2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142564" y="2040516"/>
            <a:ext cx="1143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15"/>
          <p:cNvSpPr txBox="1"/>
          <p:nvPr/>
        </p:nvSpPr>
        <p:spPr>
          <a:xfrm>
            <a:off x="6406009" y="2036945"/>
            <a:ext cx="9611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ALGORIUM Platform</a:t>
            </a:r>
          </a:p>
        </p:txBody>
      </p:sp>
      <p:pic>
        <p:nvPicPr>
          <p:cNvPr id="164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704409" y="2478825"/>
            <a:ext cx="192882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hape 16"/>
          <p:cNvSpPr/>
          <p:nvPr/>
        </p:nvSpPr>
        <p:spPr>
          <a:xfrm>
            <a:off x="5815012" y="2849267"/>
            <a:ext cx="928689" cy="364332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7"/>
          <p:cNvSpPr txBox="1"/>
          <p:nvPr/>
        </p:nvSpPr>
        <p:spPr>
          <a:xfrm>
            <a:off x="5815012" y="2849267"/>
            <a:ext cx="928689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>
            <a:spAutoFit/>
          </a:bodyPr>
          <a:lstStyle>
            <a:lvl1pPr algn="ctr">
              <a:lnSpc>
                <a:spcPct val="120000"/>
              </a:lnSpc>
              <a:defRPr sz="6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Modules</a:t>
            </a:r>
          </a:p>
        </p:txBody>
      </p:sp>
      <p:sp>
        <p:nvSpPr>
          <p:cNvPr id="167" name="Shape 18"/>
          <p:cNvSpPr/>
          <p:nvPr/>
        </p:nvSpPr>
        <p:spPr>
          <a:xfrm>
            <a:off x="6858000" y="2849267"/>
            <a:ext cx="928688" cy="364332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9"/>
          <p:cNvSpPr txBox="1"/>
          <p:nvPr/>
        </p:nvSpPr>
        <p:spPr>
          <a:xfrm>
            <a:off x="6858000" y="2849267"/>
            <a:ext cx="928688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>
            <a:spAutoFit/>
          </a:bodyPr>
          <a:lstStyle>
            <a:lvl1pPr algn="ctr">
              <a:lnSpc>
                <a:spcPct val="120000"/>
              </a:lnSpc>
              <a:defRPr sz="6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Compiler</a:t>
            </a:r>
          </a:p>
        </p:txBody>
      </p:sp>
      <p:pic>
        <p:nvPicPr>
          <p:cNvPr id="169" name="Image 8" descr="Imag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47271" y="3393756"/>
            <a:ext cx="107157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20"/>
          <p:cNvSpPr/>
          <p:nvPr/>
        </p:nvSpPr>
        <p:spPr>
          <a:xfrm>
            <a:off x="5800725" y="3767268"/>
            <a:ext cx="2000250" cy="407195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pic>
        <p:nvPicPr>
          <p:cNvPr id="171" name="Image 9" descr="Imag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36602" y="3919211"/>
            <a:ext cx="100014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21"/>
          <p:cNvSpPr txBox="1"/>
          <p:nvPr/>
        </p:nvSpPr>
        <p:spPr>
          <a:xfrm>
            <a:off x="6647185" y="3915640"/>
            <a:ext cx="4644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MongoDB</a:t>
            </a:r>
          </a:p>
        </p:txBody>
      </p:sp>
      <p:pic>
        <p:nvPicPr>
          <p:cNvPr id="173" name="logo.png" descr="logo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new.jpeg" descr="new.jpe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 0"/>
          <p:cNvSpPr txBox="1"/>
          <p:nvPr/>
        </p:nvSpPr>
        <p:spPr>
          <a:xfrm>
            <a:off x="571500" y="671512"/>
            <a:ext cx="240169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Technology Stack</a:t>
            </a:r>
          </a:p>
        </p:txBody>
      </p:sp>
      <p:pic>
        <p:nvPicPr>
          <p:cNvPr id="17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507330"/>
            <a:ext cx="214314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Text 1"/>
          <p:cNvSpPr txBox="1"/>
          <p:nvPr/>
        </p:nvSpPr>
        <p:spPr>
          <a:xfrm>
            <a:off x="892969" y="1471612"/>
            <a:ext cx="156296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Frontend Development</a:t>
            </a:r>
          </a:p>
        </p:txBody>
      </p:sp>
      <p:sp>
        <p:nvSpPr>
          <p:cNvPr id="180" name="Text 2"/>
          <p:cNvSpPr txBox="1"/>
          <p:nvPr/>
        </p:nvSpPr>
        <p:spPr>
          <a:xfrm>
            <a:off x="571500" y="1800225"/>
            <a:ext cx="3571875" cy="34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Built with HTML5, CSS3, and JavaScript. Utilizing Bootstrap for a responsive, mobile-first user interface.</a:t>
            </a:r>
          </a:p>
        </p:txBody>
      </p:sp>
      <p:pic>
        <p:nvPicPr>
          <p:cNvPr id="18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507456"/>
            <a:ext cx="171450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3"/>
          <p:cNvSpPr txBox="1"/>
          <p:nvPr/>
        </p:nvSpPr>
        <p:spPr>
          <a:xfrm>
            <a:off x="850105" y="2471738"/>
            <a:ext cx="115644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Backend &amp; Logic</a:t>
            </a:r>
          </a:p>
        </p:txBody>
      </p:sp>
      <p:sp>
        <p:nvSpPr>
          <p:cNvPr id="183" name="Text 4"/>
          <p:cNvSpPr txBox="1"/>
          <p:nvPr/>
        </p:nvSpPr>
        <p:spPr>
          <a:xfrm>
            <a:off x="571500" y="2800350"/>
            <a:ext cx="3571875" cy="34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Powered by Node.js for high-performance server-side operations, with EJS for dynamic content rendering.</a:t>
            </a:r>
          </a:p>
        </p:txBody>
      </p:sp>
      <p:pic>
        <p:nvPicPr>
          <p:cNvPr id="18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507580"/>
            <a:ext cx="150020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5"/>
          <p:cNvSpPr txBox="1"/>
          <p:nvPr/>
        </p:nvSpPr>
        <p:spPr>
          <a:xfrm>
            <a:off x="828675" y="3471862"/>
            <a:ext cx="15969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Database Management</a:t>
            </a:r>
          </a:p>
        </p:txBody>
      </p:sp>
      <p:sp>
        <p:nvSpPr>
          <p:cNvPr id="186" name="Text 6"/>
          <p:cNvSpPr txBox="1"/>
          <p:nvPr/>
        </p:nvSpPr>
        <p:spPr>
          <a:xfrm>
            <a:off x="571500" y="3800475"/>
            <a:ext cx="3571875" cy="34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MongoDB provides a flexible, scalable NoSQL solution for managing complex educational data structures.</a:t>
            </a:r>
          </a:p>
        </p:txBody>
      </p:sp>
      <p:sp>
        <p:nvSpPr>
          <p:cNvPr id="187" name="Shape 7"/>
          <p:cNvSpPr/>
          <p:nvPr/>
        </p:nvSpPr>
        <p:spPr>
          <a:xfrm>
            <a:off x="5143500" y="785812"/>
            <a:ext cx="3571875" cy="3571876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88" name="Image 4" descr="Image 4"/>
          <p:cNvPicPr>
            <a:picLocks noChangeAspect="1"/>
          </p:cNvPicPr>
          <p:nvPr/>
        </p:nvPicPr>
        <p:blipFill>
          <a:blip r:embed="rId6">
            <a:alphaModFix amt="20000"/>
            <a:extLst/>
          </a:blip>
          <a:stretch>
            <a:fillRect/>
          </a:stretch>
        </p:blipFill>
        <p:spPr>
          <a:xfrm>
            <a:off x="6286500" y="1489471"/>
            <a:ext cx="1285875" cy="1285876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8"/>
          <p:cNvSpPr/>
          <p:nvPr/>
        </p:nvSpPr>
        <p:spPr>
          <a:xfrm>
            <a:off x="6160675" y="2989658"/>
            <a:ext cx="715185" cy="278607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9"/>
          <p:cNvSpPr txBox="1"/>
          <p:nvPr/>
        </p:nvSpPr>
        <p:spPr>
          <a:xfrm>
            <a:off x="6228620" y="2989658"/>
            <a:ext cx="579295" cy="237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 algn="ctr">
              <a:lnSpc>
                <a:spcPct val="120000"/>
              </a:lnSpc>
              <a:defRPr sz="7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Node.js</a:t>
            </a:r>
          </a:p>
        </p:txBody>
      </p:sp>
      <p:sp>
        <p:nvSpPr>
          <p:cNvPr id="191" name="Shape 10"/>
          <p:cNvSpPr/>
          <p:nvPr/>
        </p:nvSpPr>
        <p:spPr>
          <a:xfrm>
            <a:off x="6983015" y="2989658"/>
            <a:ext cx="715185" cy="278607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1"/>
          <p:cNvSpPr txBox="1"/>
          <p:nvPr/>
        </p:nvSpPr>
        <p:spPr>
          <a:xfrm>
            <a:off x="7050960" y="2989658"/>
            <a:ext cx="579295" cy="237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 algn="ctr">
              <a:lnSpc>
                <a:spcPct val="120000"/>
              </a:lnSpc>
              <a:defRPr sz="7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MongoDB</a:t>
            </a:r>
          </a:p>
        </p:txBody>
      </p:sp>
      <p:sp>
        <p:nvSpPr>
          <p:cNvPr id="193" name="Shape 12"/>
          <p:cNvSpPr/>
          <p:nvPr/>
        </p:nvSpPr>
        <p:spPr>
          <a:xfrm>
            <a:off x="6160675" y="3368278"/>
            <a:ext cx="715185" cy="278607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3"/>
          <p:cNvSpPr txBox="1"/>
          <p:nvPr/>
        </p:nvSpPr>
        <p:spPr>
          <a:xfrm>
            <a:off x="6228620" y="3368278"/>
            <a:ext cx="579295" cy="237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 algn="ctr">
              <a:lnSpc>
                <a:spcPct val="120000"/>
              </a:lnSpc>
              <a:defRPr sz="7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Bootstrap</a:t>
            </a:r>
          </a:p>
        </p:txBody>
      </p:sp>
      <p:sp>
        <p:nvSpPr>
          <p:cNvPr id="195" name="Shape 14"/>
          <p:cNvSpPr/>
          <p:nvPr/>
        </p:nvSpPr>
        <p:spPr>
          <a:xfrm>
            <a:off x="6983015" y="3368278"/>
            <a:ext cx="700898" cy="278607"/>
          </a:xfrm>
          <a:prstGeom prst="rect">
            <a:avLst/>
          </a:prstGeom>
          <a:solidFill>
            <a:srgbClr val="FFFFFF"/>
          </a:solidFill>
          <a:ln w="9144">
            <a:solidFill>
              <a:srgbClr val="DBAD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5"/>
          <p:cNvSpPr txBox="1"/>
          <p:nvPr/>
        </p:nvSpPr>
        <p:spPr>
          <a:xfrm>
            <a:off x="7050960" y="3368278"/>
            <a:ext cx="565008" cy="237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 algn="ctr">
              <a:lnSpc>
                <a:spcPct val="120000"/>
              </a:lnSpc>
              <a:defRPr sz="7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EJS</a:t>
            </a:r>
          </a:p>
        </p:txBody>
      </p:sp>
      <p:pic>
        <p:nvPicPr>
          <p:cNvPr id="197" name="logo.png" descr="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new.jpeg" descr="new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 0"/>
          <p:cNvSpPr txBox="1"/>
          <p:nvPr/>
        </p:nvSpPr>
        <p:spPr>
          <a:xfrm>
            <a:off x="571500" y="851529"/>
            <a:ext cx="371475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Advantages of ALGORIUM</a:t>
            </a:r>
          </a:p>
        </p:txBody>
      </p:sp>
      <p:sp>
        <p:nvSpPr>
          <p:cNvPr id="202" name="Text 1"/>
          <p:cNvSpPr txBox="1"/>
          <p:nvPr/>
        </p:nvSpPr>
        <p:spPr>
          <a:xfrm>
            <a:off x="571500" y="2165979"/>
            <a:ext cx="3714750" cy="37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1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ALGORIUM offers a superior learning ecosystem by integrating theory with immediate practical application.</a:t>
            </a:r>
          </a:p>
        </p:txBody>
      </p:sp>
      <p:sp>
        <p:nvSpPr>
          <p:cNvPr id="203" name="Shape 2"/>
          <p:cNvSpPr/>
          <p:nvPr/>
        </p:nvSpPr>
        <p:spPr>
          <a:xfrm>
            <a:off x="571499" y="2659936"/>
            <a:ext cx="3714751" cy="757239"/>
          </a:xfrm>
          <a:prstGeom prst="rect">
            <a:avLst/>
          </a:prstGeom>
          <a:solidFill>
            <a:srgbClr val="DBAD00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3"/>
          <p:cNvSpPr/>
          <p:nvPr/>
        </p:nvSpPr>
        <p:spPr>
          <a:xfrm>
            <a:off x="571499" y="2659936"/>
            <a:ext cx="21432" cy="757239"/>
          </a:xfrm>
          <a:prstGeom prst="rect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649" y="2752805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 4"/>
          <p:cNvSpPr txBox="1"/>
          <p:nvPr/>
        </p:nvSpPr>
        <p:spPr>
          <a:xfrm>
            <a:off x="842962" y="2717086"/>
            <a:ext cx="86678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Time Efficiency</a:t>
            </a:r>
          </a:p>
        </p:txBody>
      </p:sp>
      <p:sp>
        <p:nvSpPr>
          <p:cNvPr id="207" name="Text 5"/>
          <p:cNvSpPr txBox="1"/>
          <p:nvPr/>
        </p:nvSpPr>
        <p:spPr>
          <a:xfrm>
            <a:off x="628649" y="2974262"/>
            <a:ext cx="360045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Centralized resources save hours of searching and switching between platforms, allowing more time for actual learning.</a:t>
            </a:r>
          </a:p>
        </p:txBody>
      </p:sp>
      <p:sp>
        <p:nvSpPr>
          <p:cNvPr id="208" name="Shape 6"/>
          <p:cNvSpPr/>
          <p:nvPr/>
        </p:nvSpPr>
        <p:spPr>
          <a:xfrm>
            <a:off x="571499" y="3488612"/>
            <a:ext cx="3714751" cy="757239"/>
          </a:xfrm>
          <a:prstGeom prst="rect">
            <a:avLst/>
          </a:prstGeom>
          <a:solidFill>
            <a:srgbClr val="DBAD00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7"/>
          <p:cNvSpPr/>
          <p:nvPr/>
        </p:nvSpPr>
        <p:spPr>
          <a:xfrm>
            <a:off x="571499" y="3488612"/>
            <a:ext cx="21432" cy="757239"/>
          </a:xfrm>
          <a:prstGeom prst="rect">
            <a:avLst/>
          </a:prstGeom>
          <a:solidFill>
            <a:srgbClr val="DBAD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8649" y="3581480"/>
            <a:ext cx="142876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8"/>
          <p:cNvSpPr txBox="1"/>
          <p:nvPr/>
        </p:nvSpPr>
        <p:spPr>
          <a:xfrm>
            <a:off x="842962" y="3545762"/>
            <a:ext cx="103626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BAD00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Career Readiness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628649" y="3802937"/>
            <a:ext cx="360045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Focus on practical skills and real-world scenarios ensures students are industry-ready upon completion.</a:t>
            </a:r>
          </a:p>
        </p:txBody>
      </p:sp>
      <p:pic>
        <p:nvPicPr>
          <p:cNvPr id="213" name="Image 3" descr="Image 3"/>
          <p:cNvPicPr>
            <a:picLocks noChangeAspect="1"/>
          </p:cNvPicPr>
          <p:nvPr/>
        </p:nvPicPr>
        <p:blipFill>
          <a:blip r:embed="rId5">
            <a:alphaModFix amt="20000"/>
            <a:extLst/>
          </a:blip>
          <a:stretch>
            <a:fillRect/>
          </a:stretch>
        </p:blipFill>
        <p:spPr>
          <a:xfrm>
            <a:off x="6036469" y="1964531"/>
            <a:ext cx="1071564" cy="10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11"/>
          <p:cNvSpPr txBox="1"/>
          <p:nvPr/>
        </p:nvSpPr>
        <p:spPr>
          <a:xfrm>
            <a:off x="5136355" y="3178968"/>
            <a:ext cx="287178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Accelerated Growth Through Integrated Learning</a:t>
            </a:r>
          </a:p>
        </p:txBody>
      </p:sp>
      <p:pic>
        <p:nvPicPr>
          <p:cNvPr id="215" name="logo.png" descr="logo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6082" y="4363379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new.jpeg" descr="new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59613" y="4472219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Image 1" descr="Image 1"/>
          <p:cNvPicPr>
            <a:picLocks noChangeAspect="1"/>
          </p:cNvPicPr>
          <p:nvPr/>
        </p:nvPicPr>
        <p:blipFill>
          <a:blip r:embed="rId3">
            <a:alphaModFix amt="20000"/>
            <a:extLst/>
          </a:blip>
          <a:stretch>
            <a:fillRect/>
          </a:stretch>
        </p:blipFill>
        <p:spPr>
          <a:xfrm>
            <a:off x="1771650" y="2003822"/>
            <a:ext cx="857250" cy="857251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 1"/>
          <p:cNvSpPr txBox="1"/>
          <p:nvPr/>
        </p:nvSpPr>
        <p:spPr>
          <a:xfrm>
            <a:off x="1171101" y="2946797"/>
            <a:ext cx="18423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9CA3AF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Roadmap to a Complete Ecosystem</a:t>
            </a:r>
          </a:p>
        </p:txBody>
      </p:sp>
      <p:sp>
        <p:nvSpPr>
          <p:cNvPr id="221" name="Text 2"/>
          <p:cNvSpPr txBox="1"/>
          <p:nvPr/>
        </p:nvSpPr>
        <p:spPr>
          <a:xfrm>
            <a:off x="4400550" y="571500"/>
            <a:ext cx="3011587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Future Enhancements</a:t>
            </a:r>
          </a:p>
        </p:txBody>
      </p:sp>
      <p:sp>
        <p:nvSpPr>
          <p:cNvPr id="222" name="Text 3"/>
          <p:cNvSpPr txBox="1"/>
          <p:nvPr/>
        </p:nvSpPr>
        <p:spPr>
          <a:xfrm>
            <a:off x="4400550" y="1257299"/>
            <a:ext cx="4457700" cy="37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1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Expanding the ALGORIUM ecosystem for a more personalized, accessible learning journey.</a:t>
            </a:r>
          </a:p>
        </p:txBody>
      </p:sp>
      <p:sp>
        <p:nvSpPr>
          <p:cNvPr id="223" name="Shape 4"/>
          <p:cNvSpPr/>
          <p:nvPr/>
        </p:nvSpPr>
        <p:spPr>
          <a:xfrm>
            <a:off x="4400550" y="1874509"/>
            <a:ext cx="314326" cy="314327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68416" y="1960234"/>
            <a:ext cx="17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5"/>
          <p:cNvSpPr txBox="1"/>
          <p:nvPr/>
        </p:nvSpPr>
        <p:spPr>
          <a:xfrm>
            <a:off x="4814887" y="1874509"/>
            <a:ext cx="13482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226" name="Text 6"/>
          <p:cNvSpPr txBox="1"/>
          <p:nvPr/>
        </p:nvSpPr>
        <p:spPr>
          <a:xfrm>
            <a:off x="4814887" y="2119879"/>
            <a:ext cx="147407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Personalized paths driven</a:t>
            </a:r>
          </a:p>
        </p:txBody>
      </p:sp>
      <p:sp>
        <p:nvSpPr>
          <p:cNvPr id="227" name="Text 7"/>
          <p:cNvSpPr txBox="1"/>
          <p:nvPr/>
        </p:nvSpPr>
        <p:spPr>
          <a:xfrm>
            <a:off x="4814887" y="2305617"/>
            <a:ext cx="151642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by performance and goals.</a:t>
            </a:r>
          </a:p>
        </p:txBody>
      </p:sp>
      <p:sp>
        <p:nvSpPr>
          <p:cNvPr id="228" name="Shape 8"/>
          <p:cNvSpPr/>
          <p:nvPr/>
        </p:nvSpPr>
        <p:spPr>
          <a:xfrm>
            <a:off x="6715125" y="1874509"/>
            <a:ext cx="314326" cy="314327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18709" y="1960234"/>
            <a:ext cx="107157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Text 9"/>
          <p:cNvSpPr txBox="1"/>
          <p:nvPr/>
        </p:nvSpPr>
        <p:spPr>
          <a:xfrm>
            <a:off x="7129463" y="1874509"/>
            <a:ext cx="11388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Mobile Application</a:t>
            </a:r>
          </a:p>
        </p:txBody>
      </p:sp>
      <p:sp>
        <p:nvSpPr>
          <p:cNvPr id="231" name="Text 10"/>
          <p:cNvSpPr txBox="1"/>
          <p:nvPr/>
        </p:nvSpPr>
        <p:spPr>
          <a:xfrm>
            <a:off x="7129463" y="2119879"/>
            <a:ext cx="92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Seamless, high-</a:t>
            </a:r>
          </a:p>
        </p:txBody>
      </p:sp>
      <p:sp>
        <p:nvSpPr>
          <p:cNvPr id="232" name="Text 11"/>
          <p:cNvSpPr txBox="1"/>
          <p:nvPr/>
        </p:nvSpPr>
        <p:spPr>
          <a:xfrm>
            <a:off x="7129463" y="2305617"/>
            <a:ext cx="13893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performance learning on</a:t>
            </a:r>
          </a:p>
        </p:txBody>
      </p:sp>
      <p:sp>
        <p:nvSpPr>
          <p:cNvPr id="233" name="Text 12"/>
          <p:cNvSpPr txBox="1"/>
          <p:nvPr/>
        </p:nvSpPr>
        <p:spPr>
          <a:xfrm>
            <a:off x="7129463" y="2491354"/>
            <a:ext cx="4010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the go.</a:t>
            </a:r>
          </a:p>
        </p:txBody>
      </p:sp>
      <p:sp>
        <p:nvSpPr>
          <p:cNvPr id="234" name="Shape 13"/>
          <p:cNvSpPr/>
          <p:nvPr/>
        </p:nvSpPr>
        <p:spPr>
          <a:xfrm>
            <a:off x="4400550" y="2793177"/>
            <a:ext cx="314326" cy="314327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468416" y="2878902"/>
            <a:ext cx="17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Text 14"/>
          <p:cNvSpPr txBox="1"/>
          <p:nvPr/>
        </p:nvSpPr>
        <p:spPr>
          <a:xfrm>
            <a:off x="4814887" y="2793177"/>
            <a:ext cx="12313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Community Forums</a:t>
            </a:r>
          </a:p>
        </p:txBody>
      </p:sp>
      <p:sp>
        <p:nvSpPr>
          <p:cNvPr id="237" name="Text 15"/>
          <p:cNvSpPr txBox="1"/>
          <p:nvPr/>
        </p:nvSpPr>
        <p:spPr>
          <a:xfrm>
            <a:off x="4814887" y="3038549"/>
            <a:ext cx="136108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Peer-to-peer and expert</a:t>
            </a:r>
          </a:p>
        </p:txBody>
      </p:sp>
      <p:sp>
        <p:nvSpPr>
          <p:cNvPr id="238" name="Text 16"/>
          <p:cNvSpPr txBox="1"/>
          <p:nvPr/>
        </p:nvSpPr>
        <p:spPr>
          <a:xfrm>
            <a:off x="4814887" y="3224286"/>
            <a:ext cx="142464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discussions in one place.</a:t>
            </a:r>
          </a:p>
        </p:txBody>
      </p:sp>
      <p:pic>
        <p:nvPicPr>
          <p:cNvPr id="239" name="logo.png" descr="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new.jpeg" descr="new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Image 1" descr="Image 1"/>
          <p:cNvPicPr>
            <a:picLocks noChangeAspect="1"/>
          </p:cNvPicPr>
          <p:nvPr/>
        </p:nvPicPr>
        <p:blipFill>
          <a:blip r:embed="rId3">
            <a:alphaModFix amt="20000"/>
            <a:extLst/>
          </a:blip>
          <a:stretch>
            <a:fillRect/>
          </a:stretch>
        </p:blipFill>
        <p:spPr>
          <a:xfrm>
            <a:off x="1735931" y="1950243"/>
            <a:ext cx="928689" cy="928689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 1"/>
          <p:cNvSpPr txBox="1"/>
          <p:nvPr/>
        </p:nvSpPr>
        <p:spPr>
          <a:xfrm>
            <a:off x="1064529" y="2993231"/>
            <a:ext cx="203180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9CA3AF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Bridging Learning &amp; Implementation</a:t>
            </a:r>
          </a:p>
        </p:txBody>
      </p:sp>
      <p:sp>
        <p:nvSpPr>
          <p:cNvPr id="245" name="Text 2"/>
          <p:cNvSpPr txBox="1"/>
          <p:nvPr/>
        </p:nvSpPr>
        <p:spPr>
          <a:xfrm>
            <a:off x="4400550" y="801523"/>
            <a:ext cx="1520627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2400">
                <a:solidFill>
                  <a:srgbClr val="DBAD0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46" name="Text 3"/>
          <p:cNvSpPr txBox="1"/>
          <p:nvPr/>
        </p:nvSpPr>
        <p:spPr>
          <a:xfrm>
            <a:off x="4400550" y="1601622"/>
            <a:ext cx="4457700" cy="37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8000"/>
              </a:lnSpc>
              <a:defRPr sz="11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ALGORIUM is the definitive bridge between theoretical learning and practical implementation through a unified educational platform.</a:t>
            </a:r>
          </a:p>
        </p:txBody>
      </p:sp>
      <p:sp>
        <p:nvSpPr>
          <p:cNvPr id="247" name="Shape 4"/>
          <p:cNvSpPr/>
          <p:nvPr/>
        </p:nvSpPr>
        <p:spPr>
          <a:xfrm>
            <a:off x="4400549" y="2498861"/>
            <a:ext cx="357190" cy="357189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80917" y="2598873"/>
            <a:ext cx="196454" cy="157164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 5"/>
          <p:cNvSpPr txBox="1"/>
          <p:nvPr/>
        </p:nvSpPr>
        <p:spPr>
          <a:xfrm>
            <a:off x="4843462" y="2498861"/>
            <a:ext cx="12706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Unified Environment</a:t>
            </a:r>
          </a:p>
        </p:txBody>
      </p:sp>
      <p:sp>
        <p:nvSpPr>
          <p:cNvPr id="250" name="Text 6"/>
          <p:cNvSpPr txBox="1"/>
          <p:nvPr/>
        </p:nvSpPr>
        <p:spPr>
          <a:xfrm>
            <a:off x="4843462" y="2797112"/>
            <a:ext cx="3471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Seamless integration of learning, practice, and assessment in</a:t>
            </a:r>
          </a:p>
        </p:txBody>
      </p:sp>
      <p:sp>
        <p:nvSpPr>
          <p:cNvPr id="251" name="Text 7"/>
          <p:cNvSpPr txBox="1"/>
          <p:nvPr/>
        </p:nvSpPr>
        <p:spPr>
          <a:xfrm>
            <a:off x="4843462" y="3011424"/>
            <a:ext cx="50705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one hub.</a:t>
            </a:r>
          </a:p>
        </p:txBody>
      </p:sp>
      <p:sp>
        <p:nvSpPr>
          <p:cNvPr id="252" name="Shape 8"/>
          <p:cNvSpPr/>
          <p:nvPr/>
        </p:nvSpPr>
        <p:spPr>
          <a:xfrm>
            <a:off x="4400549" y="3284673"/>
            <a:ext cx="357190" cy="357189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500562" y="3384686"/>
            <a:ext cx="157164" cy="157164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ext 9"/>
          <p:cNvSpPr txBox="1"/>
          <p:nvPr/>
        </p:nvSpPr>
        <p:spPr>
          <a:xfrm>
            <a:off x="4843462" y="3284673"/>
            <a:ext cx="1456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Student-Centric Design</a:t>
            </a:r>
          </a:p>
        </p:txBody>
      </p:sp>
      <p:sp>
        <p:nvSpPr>
          <p:cNvPr id="255" name="Text 10"/>
          <p:cNvSpPr txBox="1"/>
          <p:nvPr/>
        </p:nvSpPr>
        <p:spPr>
          <a:xfrm>
            <a:off x="4843462" y="3582925"/>
            <a:ext cx="32179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Solving modern pain points with an ad-free, focused, and</a:t>
            </a:r>
          </a:p>
        </p:txBody>
      </p:sp>
      <p:sp>
        <p:nvSpPr>
          <p:cNvPr id="256" name="Text 11"/>
          <p:cNvSpPr txBox="1"/>
          <p:nvPr/>
        </p:nvSpPr>
        <p:spPr>
          <a:xfrm>
            <a:off x="4843462" y="3797237"/>
            <a:ext cx="10009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intuitive interface.</a:t>
            </a:r>
          </a:p>
        </p:txBody>
      </p:sp>
      <p:sp>
        <p:nvSpPr>
          <p:cNvPr id="257" name="Shape 12"/>
          <p:cNvSpPr/>
          <p:nvPr/>
        </p:nvSpPr>
        <p:spPr>
          <a:xfrm>
            <a:off x="4400549" y="4070486"/>
            <a:ext cx="357190" cy="357189"/>
          </a:xfrm>
          <a:prstGeom prst="ellipse">
            <a:avLst/>
          </a:prstGeom>
          <a:solidFill>
            <a:srgbClr val="DBAD00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20207" y="4170498"/>
            <a:ext cx="117873" cy="157164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ext 13"/>
          <p:cNvSpPr txBox="1"/>
          <p:nvPr/>
        </p:nvSpPr>
        <p:spPr>
          <a:xfrm>
            <a:off x="4843462" y="4070486"/>
            <a:ext cx="128364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444444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Future-Ready Vision</a:t>
            </a:r>
          </a:p>
        </p:txBody>
      </p:sp>
      <p:sp>
        <p:nvSpPr>
          <p:cNvPr id="260" name="Text 14"/>
          <p:cNvSpPr txBox="1"/>
          <p:nvPr/>
        </p:nvSpPr>
        <p:spPr>
          <a:xfrm>
            <a:off x="4790721" y="4297101"/>
            <a:ext cx="332338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A scalable platform evolving to empower every learner with</a:t>
            </a:r>
          </a:p>
        </p:txBody>
      </p:sp>
      <p:sp>
        <p:nvSpPr>
          <p:cNvPr id="261" name="Text 15"/>
          <p:cNvSpPr txBox="1"/>
          <p:nvPr/>
        </p:nvSpPr>
        <p:spPr>
          <a:xfrm>
            <a:off x="4790721" y="4511413"/>
            <a:ext cx="11630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8E7D69"/>
                </a:solidFill>
                <a:latin typeface="SF Pro Display"/>
                <a:ea typeface="SF Pro Display"/>
                <a:cs typeface="SF Pro Display"/>
                <a:sym typeface="SF Pro Display"/>
              </a:defRPr>
            </a:lvl1pPr>
          </a:lstStyle>
          <a:p>
            <a:pPr/>
            <a:r>
              <a:t>industry-ready skills.</a:t>
            </a:r>
          </a:p>
        </p:txBody>
      </p:sp>
      <p:pic>
        <p:nvPicPr>
          <p:cNvPr id="262" name="logo.png" descr="logo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new.jpeg" descr="new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68248" y="4570746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Text 0"/>
          <p:cNvSpPr txBox="1"/>
          <p:nvPr/>
        </p:nvSpPr>
        <p:spPr>
          <a:xfrm>
            <a:off x="571500" y="886551"/>
            <a:ext cx="211659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b="1" sz="3300">
                <a:solidFill>
                  <a:srgbClr val="D4AF37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67" name="Text 1"/>
          <p:cNvSpPr txBox="1"/>
          <p:nvPr/>
        </p:nvSpPr>
        <p:spPr>
          <a:xfrm>
            <a:off x="571500" y="1578043"/>
            <a:ext cx="372977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Join us in redefining the future of e-learning.</a:t>
            </a:r>
          </a:p>
        </p:txBody>
      </p:sp>
      <p:pic>
        <p:nvPicPr>
          <p:cNvPr id="26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194192"/>
            <a:ext cx="128588" cy="128589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Text 2"/>
          <p:cNvSpPr txBox="1"/>
          <p:nvPr/>
        </p:nvSpPr>
        <p:spPr>
          <a:xfrm>
            <a:off x="757237" y="2181690"/>
            <a:ext cx="18202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contact@algoriumhelp.@gmail.com</a:t>
            </a:r>
          </a:p>
        </p:txBody>
      </p:sp>
      <p:pic>
        <p:nvPicPr>
          <p:cNvPr id="27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387073"/>
            <a:ext cx="128588" cy="128589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 3"/>
          <p:cNvSpPr txBox="1"/>
          <p:nvPr/>
        </p:nvSpPr>
        <p:spPr>
          <a:xfrm>
            <a:off x="757237" y="2374570"/>
            <a:ext cx="152483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https://algorium.onrender.com</a:t>
            </a:r>
          </a:p>
        </p:txBody>
      </p:sp>
      <p:sp>
        <p:nvSpPr>
          <p:cNvPr id="272" name="Text 10"/>
          <p:cNvSpPr txBox="1"/>
          <p:nvPr/>
        </p:nvSpPr>
        <p:spPr>
          <a:xfrm>
            <a:off x="571500" y="4105534"/>
            <a:ext cx="4543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pc="3" sz="80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LEARN. PRACTICE. ASSESS. GROW.</a:t>
            </a:r>
          </a:p>
        </p:txBody>
      </p:sp>
      <p:sp>
        <p:nvSpPr>
          <p:cNvPr id="273" name="Shape 11"/>
          <p:cNvSpPr/>
          <p:nvPr/>
        </p:nvSpPr>
        <p:spPr>
          <a:xfrm>
            <a:off x="5629275" y="1143000"/>
            <a:ext cx="2857500" cy="28575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4" name="Image 3" descr="Image 3"/>
          <p:cNvPicPr>
            <a:picLocks noChangeAspect="1"/>
          </p:cNvPicPr>
          <p:nvPr/>
        </p:nvPicPr>
        <p:blipFill>
          <a:blip r:embed="rId5">
            <a:alphaModFix amt="20000"/>
            <a:extLst/>
          </a:blip>
          <a:stretch>
            <a:fillRect/>
          </a:stretch>
        </p:blipFill>
        <p:spPr>
          <a:xfrm>
            <a:off x="6388298" y="2035968"/>
            <a:ext cx="1339454" cy="10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 4"/>
          <p:cNvSpPr txBox="1"/>
          <p:nvPr/>
        </p:nvSpPr>
        <p:spPr>
          <a:xfrm>
            <a:off x="519692" y="3122421"/>
            <a:ext cx="1130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PUNITH M[1MJ25IS038]</a:t>
            </a:r>
          </a:p>
        </p:txBody>
      </p:sp>
      <p:sp>
        <p:nvSpPr>
          <p:cNvPr id="276" name="Text 5"/>
          <p:cNvSpPr txBox="1"/>
          <p:nvPr/>
        </p:nvSpPr>
        <p:spPr>
          <a:xfrm>
            <a:off x="2734255" y="3122421"/>
            <a:ext cx="1370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 Parinita  [1MJ25AI038]</a:t>
            </a:r>
          </a:p>
        </p:txBody>
      </p:sp>
      <p:sp>
        <p:nvSpPr>
          <p:cNvPr id="277" name="Text 6"/>
          <p:cNvSpPr txBox="1"/>
          <p:nvPr/>
        </p:nvSpPr>
        <p:spPr>
          <a:xfrm>
            <a:off x="519692" y="3365308"/>
            <a:ext cx="1390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Manoj kumar K [1MJ25AE038]</a:t>
            </a:r>
          </a:p>
        </p:txBody>
      </p:sp>
      <p:sp>
        <p:nvSpPr>
          <p:cNvPr id="278" name="Text 7"/>
          <p:cNvSpPr txBox="1"/>
          <p:nvPr/>
        </p:nvSpPr>
        <p:spPr>
          <a:xfrm>
            <a:off x="2734255" y="3365308"/>
            <a:ext cx="13002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Indupriya H S [IMJ25EC038]</a:t>
            </a:r>
          </a:p>
        </p:txBody>
      </p:sp>
      <p:sp>
        <p:nvSpPr>
          <p:cNvPr id="279" name="Text 8"/>
          <p:cNvSpPr txBox="1"/>
          <p:nvPr/>
        </p:nvSpPr>
        <p:spPr>
          <a:xfrm>
            <a:off x="519692" y="3608196"/>
            <a:ext cx="12718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Harsha M S [1MJ25CSO38]</a:t>
            </a:r>
          </a:p>
        </p:txBody>
      </p:sp>
      <p:sp>
        <p:nvSpPr>
          <p:cNvPr id="280" name="Text 9"/>
          <p:cNvSpPr txBox="1"/>
          <p:nvPr/>
        </p:nvSpPr>
        <p:spPr>
          <a:xfrm>
            <a:off x="2734255" y="3608196"/>
            <a:ext cx="18255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Sambit Kumar Maharana [1MJ25VL038]</a:t>
            </a:r>
          </a:p>
        </p:txBody>
      </p:sp>
      <p:pic>
        <p:nvPicPr>
          <p:cNvPr id="281" name="logo.png" descr="logo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6082" y="4369100"/>
            <a:ext cx="1496455" cy="717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new.jpeg" descr="new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59613" y="4477940"/>
            <a:ext cx="2312792" cy="50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